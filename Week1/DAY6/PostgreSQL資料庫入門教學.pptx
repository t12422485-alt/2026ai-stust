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365760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80160" y="365760"/>
            <a:ext cx="274320" cy="27432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1640" y="365760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gadmi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548640"/>
            <a:ext cx="50292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3C4043"/>
                </a:solidFill>
                <a:latin typeface="Calibri"/>
                <a:ea typeface="微軟正黑體"/>
              </a:rPr>
              <a:t>PostgreSQL
資料庫入門教學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 dirty="0" err="1">
                <a:solidFill>
                  <a:srgbClr val="5F6368"/>
                </a:solidFill>
                <a:latin typeface="Calibri"/>
                <a:ea typeface="微軟正黑體"/>
              </a:rPr>
              <a:t>從安裝到</a:t>
            </a:r>
            <a:r>
              <a:rPr sz="2400" b="0" i="0" dirty="0">
                <a:solidFill>
                  <a:srgbClr val="5F6368"/>
                </a:solidFill>
                <a:latin typeface="Calibri"/>
                <a:ea typeface="微軟正黑體"/>
              </a:rPr>
              <a:t> </a:t>
            </a:r>
            <a:r>
              <a:rPr sz="2400" b="0" i="0" dirty="0" err="1">
                <a:solidFill>
                  <a:srgbClr val="5F6368"/>
                </a:solidFill>
                <a:latin typeface="Calibri"/>
                <a:ea typeface="微軟正黑體"/>
              </a:rPr>
              <a:t>CRUD，帶你掌握</a:t>
            </a:r>
            <a:r>
              <a:rPr sz="2400" b="0" i="0" dirty="0">
                <a:solidFill>
                  <a:srgbClr val="5F6368"/>
                </a:solidFill>
                <a:latin typeface="Calibri"/>
                <a:ea typeface="微軟正黑體"/>
              </a:rPr>
              <a:t> SQL </a:t>
            </a:r>
            <a:r>
              <a:rPr sz="2400" b="0" i="0" dirty="0" err="1">
                <a:solidFill>
                  <a:srgbClr val="5F6368"/>
                </a:solidFill>
                <a:latin typeface="Calibri"/>
                <a:ea typeface="微軟正黑體"/>
              </a:rPr>
              <a:t>基本功</a:t>
            </a:r>
            <a:endParaRPr sz="2400" b="0" i="0" dirty="0">
              <a:solidFill>
                <a:srgbClr val="5F6368"/>
              </a:solidFill>
              <a:latin typeface="Calibri"/>
              <a:ea typeface="微軟正黑體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Harry / 蘇泓舉</a:t>
            </a:r>
          </a:p>
          <a:p>
            <a:r>
              <a:rPr sz="1400" b="0" i="0">
                <a:solidFill>
                  <a:srgbClr val="BDC1C6"/>
                </a:solidFill>
                <a:latin typeface="Calibri"/>
                <a:ea typeface="微軟正黑體"/>
              </a:rPr>
              <a:t>github.com/harry123180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課程大綱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40080" cy="64008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資料庫基礎觀念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640080" cy="6400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微軟正黑體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37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PostgreSQL 與 pgAdmin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640080" cy="64008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微軟正黑體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737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SQL 語法 — CRUD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640080" cy="64008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微軟正黑體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31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JOIN 與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640080" cy="6400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微軟正黑體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931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實作與速查表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資料庫是什麼？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3C4043"/>
                </a:solidFill>
                <a:latin typeface="Calibri"/>
                <a:ea typeface="微軟正黑體"/>
              </a:rPr>
              <a:t>一個有組織的資料儲存系統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方便地存取、管理、更新大量資料</a:t>
            </a:r>
          </a:p>
          <a:p>
            <a:pPr>
              <a:spcAft>
                <a:spcPts val="1000"/>
              </a:spcAft>
            </a:pPr>
            <a:endParaRPr sz="1800" b="0" i="0">
              <a:solidFill>
                <a:srgbClr val="5F6368"/>
              </a:solidFill>
              <a:latin typeface="Calibri"/>
              <a:ea typeface="微軟正黑體"/>
            </a:endParaRP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3C4043"/>
                </a:solidFill>
                <a:latin typeface="Calibri"/>
                <a:ea typeface="微軟正黑體"/>
              </a:rPr>
              <a:t>生活中到處都是資料庫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LINE 聊天記錄、銀行帳戶餘額、蝦皮商品目錄</a:t>
            </a:r>
          </a:p>
          <a:p>
            <a:pPr>
              <a:spcAft>
                <a:spcPts val="1000"/>
              </a:spcAft>
            </a:pPr>
            <a:endParaRPr sz="1800" b="0" i="0">
              <a:solidFill>
                <a:srgbClr val="5F6368"/>
              </a:solidFill>
              <a:latin typeface="Calibri"/>
              <a:ea typeface="微軟正黑體"/>
            </a:endParaRP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3C4043"/>
                </a:solidFill>
                <a:latin typeface="Calibri"/>
                <a:ea typeface="微軟正黑體"/>
              </a:rPr>
              <a:t>跟 Excel 差在哪？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Excel 一人編輯 → 資料庫多人同時讀寫，更快更可靠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4285F4"/>
                </a:solidFill>
                <a:latin typeface="Consolas"/>
                <a:ea typeface="Consolas"/>
              </a:rPr>
              <a:t>id  |  name  |  email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C4043"/>
                </a:solidFill>
                <a:latin typeface="Consolas"/>
                <a:ea typeface="Consolas"/>
              </a:rPr>
              <a:t>1  |  小明  |  ming@mail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C4043"/>
                </a:solidFill>
                <a:latin typeface="Consolas"/>
                <a:ea typeface="Consolas"/>
              </a:rPr>
              <a:t>2  |  小華  |  hua@mail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C4043"/>
                </a:solidFill>
                <a:latin typeface="Consolas"/>
                <a:ea typeface="Consolas"/>
              </a:rPr>
              <a:t>3  |  小美  |  mei@mail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為什麼要學資料庫？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後端開發必備</a:t>
            </a:r>
          </a:p>
          <a:p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幾乎所有 Web 應用都需要存資料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73152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34A853"/>
                </a:solidFill>
                <a:latin typeface="Calibri"/>
                <a:ea typeface="微軟正黑體"/>
              </a:rPr>
              <a:t>資料分析基礎</a:t>
            </a:r>
          </a:p>
          <a:p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SQL 是數據分析師的共通語言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73152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EA4335"/>
                </a:solidFill>
                <a:latin typeface="Calibri"/>
                <a:ea typeface="微軟正黑體"/>
              </a:rPr>
              <a:t>AI / ML 必經之路</a:t>
            </a:r>
          </a:p>
          <a:p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模型訓練的資料從 DB 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73152" cy="1828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BBC05"/>
                </a:solidFill>
                <a:latin typeface="Calibri"/>
                <a:ea typeface="微軟正黑體"/>
              </a:rPr>
              <a:t>高薪技能</a:t>
            </a:r>
          </a:p>
          <a:p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DB 管理員年薪中位數 120 萬+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關聯式資料庫 vs NoSQL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4285F4"/>
                </a:solidFill>
                <a:latin typeface="Calibri"/>
                <a:ea typeface="微軟正黑體"/>
              </a:rPr>
              <a:t>關聯式資料庫 (RDBMS)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資料存在「表格」中（行 × 列）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用 SQL 查詢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嚴格的 Schema（欄位型態固定）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代表：PostgreSQL、MySQL、SQLite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34A853"/>
                </a:solidFill>
                <a:latin typeface="Calibri"/>
                <a:ea typeface="微軟正黑體"/>
              </a:rPr>
              <a:t>NoSQL 資料庫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資料存成文件 / Key-Value / 圖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各有各的查詢語法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Schema 彈性（隨時加欄位）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代表：MongoDB、Redis、Neo4j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PostgreSQL 是什麼？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開源免費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全球最先進的開源關聯式資料庫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超過 35 年歷史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1986 年起源於 UC Berkeley，穩定可靠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功能強大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支援 JSON、全文搜尋、地理資訊 (PostGIS)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社群活躍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每年固定發布新版本，文件完善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企業信賴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Apple、Instagram、Spotify 都在用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pgAdmin — PostgreSQL 的圖形管理工具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PostgreSQL 官方推薦的管理介面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內建 SQL 查詢編輯器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語法高亮 + 自動補全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支援資料匯入匯出（CSV、Excel）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備份與還原資料庫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•  桌面版 + Web 版兩種模式</a:t>
            </a:r>
          </a:p>
        </p:txBody>
      </p:sp>
      <p:pic>
        <p:nvPicPr>
          <p:cNvPr id="5" name="Picture 4" descr="im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760720" cy="3094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12648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pgAdmin 4 歡迎畫面 — 點選 Add New Server 開始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連線設定 Step 1 — 輸入伺服器名稱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點選 Add New Server 後：</a:t>
            </a:r>
          </a:p>
          <a:p>
            <a:pPr>
              <a:spcAft>
                <a:spcPts val="1000"/>
              </a:spcAft>
            </a:pPr>
            <a:endParaRPr sz="2000" b="1" i="0">
              <a:solidFill>
                <a:srgbClr val="3C4043"/>
              </a:solidFill>
              <a:latin typeface="Calibri"/>
              <a:ea typeface="微軟正黑體"/>
            </a:endParaRP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4285F4"/>
                </a:solidFill>
                <a:latin typeface="Calibri"/>
                <a:ea typeface="微軟正黑體"/>
              </a:rPr>
              <a:t>1. General 頁籤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    Name 欄位輸入自訂名稱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    例如：localhost 或 my-postgres</a:t>
            </a:r>
          </a:p>
          <a:p>
            <a:pPr>
              <a:spcAft>
                <a:spcPts val="1000"/>
              </a:spcAft>
            </a:pPr>
            <a:endParaRPr sz="1800" b="0" i="0">
              <a:solidFill>
                <a:srgbClr val="5F6368"/>
              </a:solidFill>
              <a:latin typeface="Calibri"/>
              <a:ea typeface="微軟正黑體"/>
            </a:endParaRP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2. 其他欄位可保持預設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    Connect now? 打勾</a:t>
            </a:r>
          </a:p>
        </p:txBody>
      </p:sp>
      <p:pic>
        <p:nvPicPr>
          <p:cNvPr id="5" name="Picture 4" descr="im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54747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Create Server — General 頁籤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連線設定 Step 2 — 填入連線資訊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切到 Connection 頁籤：</a:t>
            </a:r>
          </a:p>
          <a:p>
            <a:pPr>
              <a:spcAft>
                <a:spcPts val="1000"/>
              </a:spcAft>
            </a:pPr>
            <a:endParaRPr sz="2000" b="1" i="0">
              <a:solidFill>
                <a:srgbClr val="3C4043"/>
              </a:solidFill>
              <a:latin typeface="Calibri"/>
              <a:ea typeface="微軟正黑體"/>
            </a:endParaRP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Host name/address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輸入 localhost（本機）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Port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預設 5432，不用改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Maintenance DB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預設 postgres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Username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預設 postgres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Password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安裝時設定的密碼</a:t>
            </a:r>
          </a:p>
          <a:p>
            <a:pPr>
              <a:spcAft>
                <a:spcPts val="1000"/>
              </a:spcAft>
            </a:pPr>
            <a:endParaRPr sz="2000" b="0" i="0">
              <a:solidFill>
                <a:srgbClr val="3C4043"/>
              </a:solidFill>
              <a:latin typeface="Calibri"/>
              <a:ea typeface="微軟正黑體"/>
            </a:endParaRP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34A853"/>
                </a:solidFill>
                <a:latin typeface="Calibri"/>
                <a:ea typeface="微軟正黑體"/>
              </a:rPr>
              <a:t>填完按右下角 Save 即完成連線</a:t>
            </a:r>
          </a:p>
        </p:txBody>
      </p:sp>
      <p:pic>
        <p:nvPicPr>
          <p:cNvPr id="5" name="Picture 4" descr="im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666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Create Server — Connection 頁籤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連線成功 — pgAdmin 操作畫面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左側面板：Servers → Databases / Login Roles / Tablespaces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建立你的第一個資料庫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左側面板：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右鍵 Databases → Create → Database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5F6368"/>
                </a:solidFill>
                <a:latin typeface="Calibri"/>
                <a:ea typeface="微軟正黑體"/>
              </a:rPr>
              <a:t>輸入名稱（例如 test）→ Save</a:t>
            </a:r>
          </a:p>
        </p:txBody>
      </p:sp>
      <p:pic>
        <p:nvPicPr>
          <p:cNvPr id="5" name="Picture 4" descr="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675120" cy="35808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594360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右鍵選單 → Create → Database...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建立資料庫 — 設定名稱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60686" cy="5029200"/>
          </a:xfrm>
          <a:prstGeom prst="rect">
            <a:avLst/>
          </a:prstGeom>
        </p:spPr>
      </p:pic>
      <p:pic>
        <p:nvPicPr>
          <p:cNvPr id="5" name="Picture 4" descr="img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6675120" cy="3581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輸入 Database 名稱 → 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943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右鍵資料庫 → Query Tool 開啟查詢編輯器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SQL 語法概覽 — CRUD 四大操作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SQL（Structured Query Language）是跟資料庫溝通的標準語言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651760" cy="8229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C —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4A853"/>
                </a:solidFill>
                <a:latin typeface="Consolas"/>
                <a:ea typeface="Consolas"/>
              </a:rPr>
              <a:t>INSERT INTO</a:t>
            </a:r>
          </a:p>
          <a:p>
            <a:r>
              <a:rPr sz="1600" b="0" i="0">
                <a:solidFill>
                  <a:srgbClr val="5F6368"/>
                </a:solidFill>
                <a:latin typeface="Calibri"/>
                <a:ea typeface="微軟正黑體"/>
              </a:rPr>
              <a:t>新增資料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743200"/>
            <a:ext cx="2651760" cy="8229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R —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285F4"/>
                </a:solidFill>
                <a:latin typeface="Consolas"/>
                <a:ea typeface="Consolas"/>
              </a:rPr>
              <a:t>SELECT</a:t>
            </a:r>
          </a:p>
          <a:p>
            <a:r>
              <a:rPr sz="1600" b="0" i="0">
                <a:solidFill>
                  <a:srgbClr val="5F6368"/>
                </a:solidFill>
                <a:latin typeface="Calibri"/>
                <a:ea typeface="微軟正黑體"/>
              </a:rPr>
              <a:t>查詢資料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2651760" cy="82296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U —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BBC05"/>
                </a:solidFill>
                <a:latin typeface="Consolas"/>
                <a:ea typeface="Consolas"/>
              </a:rPr>
              <a:t>UPDATE</a:t>
            </a:r>
          </a:p>
          <a:p>
            <a:r>
              <a:rPr sz="1600" b="0" i="0">
                <a:solidFill>
                  <a:srgbClr val="5F6368"/>
                </a:solidFill>
                <a:latin typeface="Calibri"/>
                <a:ea typeface="微軟正黑體"/>
              </a:rPr>
              <a:t>更新資料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743200"/>
            <a:ext cx="2651760" cy="82296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D — 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59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A4335"/>
                </a:solidFill>
                <a:latin typeface="Consolas"/>
                <a:ea typeface="Consolas"/>
              </a:rPr>
              <a:t>DELETE</a:t>
            </a:r>
          </a:p>
          <a:p>
            <a:r>
              <a:rPr sz="1600" b="0" i="0">
                <a:solidFill>
                  <a:srgbClr val="5F6368"/>
                </a:solidFill>
                <a:latin typeface="Calibri"/>
                <a:ea typeface="微軟正黑體"/>
              </a:rPr>
              <a:t>刪除資料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CREATE TABLE — 在 pgAdmin 建立資料表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029200" cy="27432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CREATE TABLE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COMPANY(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 ID     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SERIAL PRIMARY KEY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 NAME   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TEXT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NOT NULL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 INFO   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TEXT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NOT NULL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);</a:t>
            </a:r>
          </a:p>
        </p:txBody>
      </p:sp>
      <p:pic>
        <p:nvPicPr>
          <p:cNvPr id="5" name="Picture 4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0962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484632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Query Editor 輸入 CREATE TABLE SQL</a:t>
            </a:r>
          </a:p>
        </p:txBody>
      </p:sp>
      <p:pic>
        <p:nvPicPr>
          <p:cNvPr id="7" name="Picture 6" descr="img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89120"/>
            <a:ext cx="50292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執行成功：Query returned successfully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INSERT INTO — 新增資料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新增一筆資料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INSERT INTO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(name, info)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VALUES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(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'qoo'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,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'sale'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);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也可以一次新增多筆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INSERT INTO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(name, info)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VALUES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 (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'小明'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,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'engineering'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),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   (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'小華'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,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'marketing'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);</a:t>
            </a:r>
          </a:p>
        </p:txBody>
      </p:sp>
      <p:pic>
        <p:nvPicPr>
          <p:cNvPr id="5" name="Picture 4" descr="im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29455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943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INSERT 執行成功，左側可看到 Table 與 Columns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SELECT — 查詢資料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查詢所有欄位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只查特定欄位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name, info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條件篩選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'qoo'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</p:txBody>
      </p:sp>
      <p:pic>
        <p:nvPicPr>
          <p:cNvPr id="5" name="Picture 4" descr="im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2945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943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BDC1C6"/>
                </a:solidFill>
                <a:latin typeface="Calibri"/>
                <a:ea typeface="微軟正黑體"/>
              </a:rPr>
              <a:t>Data Output 顯示查詢結果：id=1, name=qoo, info=sale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WHERE — 條件篩選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比較運算子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age &gt; 25;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salary &gt;= 60000;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邏輯運算子 AND / OR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dept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'工程部'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AND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salary &gt; 55000;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模糊搜尋 LIKE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LIKE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'小%'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IN 集合篩選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*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dept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IN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(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'工程部'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,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'行銷部'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UPDATE — 更新資料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更新單一欄位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UPDATE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salary = 55000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'小明'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同時更新多個欄位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UPDATE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salary = 70000, dept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'管理部'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'小華'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沒加 WHERE 會改到所有資料！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UPDATE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salary = 0;  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危險！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DELETE — 刪除資料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刪除符合條件的資料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DELETE 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'大雄'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沒加 WHERE 會刪光！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DELETE 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  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危險！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6A9955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清空整張表（比 DELETE 快）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TRUNCATE TABLE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刪除整張表（連結構都刪）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DROP TABLE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聚合函式 — 統計你的資料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COUNT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(*)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           -- 總筆數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SUM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(salary)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       -- 薪水加總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AVG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(salary)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       -- 平均薪水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MAX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(salary)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       -- 最高薪水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MIN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(age)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company;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          -- 最小年齡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6A9955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GROUP BY 分組統計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dept,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COUNT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(*),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AVG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(salary)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GROUP BY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dept;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HAVING：對分組結果再篩選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dept,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AVG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(salary)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AS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avg_sal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company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GROUP BY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dept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HAVING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AVG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(salary) &gt; 55000;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JOIN — 合併多張表的資料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真實世界的資料分散在多張表 — JOIN 讓你把它們「接」起來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4572000" cy="34747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285F4"/>
                </a:solidFill>
                <a:latin typeface="Calibri"/>
                <a:ea typeface="微軟正黑體"/>
              </a:rPr>
              <a:t>employees 表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id | name    | dept_id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1  | 小明    | 10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2  | 小華    | 20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3  | 小美    | 10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4  | 大雄   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743200"/>
            <a:ext cx="4572000" cy="34747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28346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4A853"/>
                </a:solidFill>
                <a:latin typeface="Calibri"/>
                <a:ea typeface="微軟正黑體"/>
              </a:rPr>
              <a:t>departments 表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id | dept_name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10 | 工程部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20 | 行銷部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C4043"/>
                </a:solidFill>
                <a:latin typeface="Consolas"/>
                <a:ea typeface="Consolas"/>
              </a:rPr>
              <a:t>30 | 管理部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8404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EA4335"/>
                </a:solidFill>
                <a:latin typeface="Calibri"/>
                <a:ea typeface="微軟正黑體"/>
              </a:rPr>
              <a:t>JOIN ON
dept_id = id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INNER JOIN — 交集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5F6368"/>
                </a:solidFill>
                <a:latin typeface="Calibri"/>
                <a:ea typeface="微軟正黑體"/>
              </a:rPr>
              <a:t>只回傳兩邊都有匹配的資料列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6858000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e.name, d.dept_name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employees 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INNER JOIN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departments d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ON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e.dept_id = d.id;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結果：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name | dept_name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小明 | 工程部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小華 | 行銷部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小美 | 工程部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大雄 | 管理部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3931920" cy="38404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BBC05"/>
                </a:solidFill>
                <a:latin typeface="Calibri"/>
                <a:ea typeface="微軟正黑體"/>
              </a:rPr>
              <a:t>INNER JOIN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3C4043"/>
                </a:solidFill>
                <a:latin typeface="Calibri"/>
                <a:ea typeface="微軟正黑體"/>
              </a:rPr>
              <a:t>A ∩ B
只取兩張表都有
匹配的資料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LEFT JOIN / RIGHT JOIN — 外部連接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LEFT JOIN：保留左表所有資料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SELECT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e.name, d.dept_name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FROM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employees 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LEFT JOIN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departments d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ON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e.dept_id = d.id;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如果員工的 dept_id 沒對應 →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LEFT JOIN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左表全保留，右表沒匹配填 NULL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4A853"/>
                </a:solidFill>
                <a:latin typeface="Calibri"/>
                <a:ea typeface="微軟正黑體"/>
              </a:rPr>
              <a:t>RIGHT JOIN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右表全保留，左表沒匹配填 NULL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EA4335"/>
                </a:solidFill>
                <a:latin typeface="Calibri"/>
                <a:ea typeface="微軟正黑體"/>
              </a:rPr>
              <a:t>FULL OUTER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兩邊都保留，沒匹配填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3C4043"/>
                </a:solidFill>
                <a:latin typeface="Calibri"/>
                <a:ea typeface="微軟正黑體"/>
              </a:rPr>
              <a:t>實務上 LEFT JOIN 最常用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5F6368"/>
                </a:solidFill>
                <a:latin typeface="Calibri"/>
                <a:ea typeface="微軟正黑體"/>
              </a:rPr>
              <a:t>以「主表」為準，補上關聯資料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Transaction — 事務管理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3C4043"/>
                </a:solidFill>
                <a:latin typeface="Calibri"/>
                <a:ea typeface="微軟正黑體"/>
              </a:rPr>
              <a:t>事務 = 一組操作，全部成功或全部取消</a:t>
            </a:r>
          </a:p>
          <a:p>
            <a:pPr>
              <a:spcAft>
                <a:spcPts val="1000"/>
              </a:spcAft>
            </a:pPr>
            <a:endParaRPr sz="1900" b="1" i="0">
              <a:solidFill>
                <a:srgbClr val="3C4043"/>
              </a:solidFill>
              <a:latin typeface="Calibri"/>
              <a:ea typeface="微軟正黑體"/>
            </a:endParaRP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A — Atomicity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原子性：全做或全不做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C — Consistency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一致性：前後資料合法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I — Isolation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隔離性：並行不干擾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185ABC"/>
                </a:solidFill>
                <a:latin typeface="Calibri"/>
                <a:ea typeface="微軟正黑體"/>
              </a:rPr>
              <a:t>D — Durability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持久性：成功就永久保存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760720" cy="47548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BEGIN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UPDATE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accounts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balance = balance - 1000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'小明'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UPDATE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accounts </a:t>
            </a: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SET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balance = balance + 1000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WHERE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 name = </a:t>
            </a:r>
            <a:r>
              <a:rPr sz="1600" b="0" i="0">
                <a:solidFill>
                  <a:srgbClr val="C3E88D"/>
                </a:solidFill>
                <a:latin typeface="Consolas"/>
                <a:ea typeface="Consolas"/>
              </a:rPr>
              <a:t>'小華'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ECEFF1"/>
              </a:solidFill>
              <a:latin typeface="Consolas"/>
              <a:ea typeface="Consolas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82AAFF"/>
                </a:solidFill>
                <a:latin typeface="Consolas"/>
                <a:ea typeface="Consolas"/>
              </a:rPr>
              <a:t>COMMIT</a:t>
            </a:r>
            <a:r>
              <a:rPr sz="1600" b="0" i="0">
                <a:solidFill>
                  <a:srgbClr val="ECEFF1"/>
                </a:solidFill>
                <a:latin typeface="Consolas"/>
                <a:ea typeface="Consolas"/>
              </a:rPr>
              <a:t>;  </a:t>
            </a:r>
            <a:r>
              <a:rPr sz="1600" b="0" i="0">
                <a:solidFill>
                  <a:srgbClr val="6A9955"/>
                </a:solidFill>
                <a:latin typeface="Consolas"/>
                <a:ea typeface="Consolas"/>
              </a:rPr>
              <a:t>-- 或 ROLLBACK; 取消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常用 SQL 命令速查表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5029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CREATE DATABASE name;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45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建立資料庫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DROP DATABASE name;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23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刪除資料庫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CREATE TABLE t (...);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建立資料表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DROP TABLE 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9776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刪除資料表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ALTER TABLE t ADD col TYPE;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7548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新增欄位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INSERT INTO t VALUES (...);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532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新增資料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5486400" cy="5029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SELECT * FROM t WHERE ...;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645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查詢資料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UPDATE t SET col=val WHERE;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423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更新資料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DELETE FROM t WHERE ...;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刪除資料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776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CREATE INDEX idx ON t(col);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9776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建立索引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54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GRANT ... ON t TO user;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7548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授予權限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532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5ABC"/>
                </a:solidFill>
                <a:latin typeface="Consolas"/>
                <a:ea typeface="Consolas"/>
              </a:rPr>
              <a:t>BEGIN; ... COMMIT;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532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Calibri"/>
                <a:ea typeface="微軟正黑體"/>
              </a:rPr>
              <a:t>事務操作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pgAdmin 使用技巧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8229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F5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783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執行全部查詢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286000" cy="8229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Ctrl+Enter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8803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只執行選取的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2286000" cy="82296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Ctrl+/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9776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註解 / 取消註解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59"/>
            <a:ext cx="2286000" cy="82296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Ctrl+Space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074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程式碼自動補全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55448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3C4043"/>
                </a:solidFill>
                <a:latin typeface="Calibri"/>
                <a:ea typeface="微軟正黑體"/>
              </a:rPr>
              <a:t>•  右鍵 Table → View/Edit Data 直接看資料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3C4043"/>
                </a:solidFill>
                <a:latin typeface="Calibri"/>
                <a:ea typeface="微軟正黑體"/>
              </a:rPr>
              <a:t>•  Query History 找回之前的 SQL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3C4043"/>
                </a:solidFill>
                <a:latin typeface="Calibri"/>
                <a:ea typeface="微軟正黑體"/>
              </a:rPr>
              <a:t>•  Explain (F7) 查看查詢效能分析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3C4043"/>
                </a:solidFill>
                <a:latin typeface="Calibri"/>
                <a:ea typeface="微軟正黑體"/>
              </a:rPr>
              <a:t>•  右鍵 Database → Backup 備份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3C4043"/>
                </a:solidFill>
                <a:latin typeface="Calibri"/>
                <a:ea typeface="微軟正黑體"/>
              </a:rPr>
              <a:t>•  Preferences 自訂字型和配色主題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PostgreSQL 常用資料型態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5029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SERIAL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37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自動遞增整數（主鍵常用）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INTEGER / 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51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整數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NUMERIC(p,s)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精確小數（金額用）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480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可變長度字串（不限長）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VARCHAR(n)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94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限定長度字串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5486400" cy="5029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BOOLEAN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737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布林值 true /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51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日期 YYYY-MM-DD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TIMESTAMP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66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日期 + 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85ABC"/>
                </a:solidFill>
                <a:latin typeface="Consolas"/>
                <a:ea typeface="Consolas"/>
              </a:rPr>
              <a:t>JSON / JSONB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480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C4043"/>
                </a:solidFill>
                <a:latin typeface="Calibri"/>
                <a:ea typeface="微軟正黑體"/>
              </a:rPr>
              <a:t>JSON 文件格式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Your Turn — 動手練習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C4043"/>
                </a:solidFill>
                <a:latin typeface="Calibri"/>
                <a:ea typeface="微軟正黑體"/>
              </a:rPr>
              <a:t>建立 school 資料庫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F6368"/>
                </a:solidFill>
                <a:latin typeface="Calibri"/>
                <a:ea typeface="微軟正黑體"/>
              </a:rPr>
              <a:t>pgAdmin 或 CREATE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54864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C4043"/>
                </a:solidFill>
                <a:latin typeface="Calibri"/>
                <a:ea typeface="微軟正黑體"/>
              </a:rPr>
              <a:t>建立 students 資料表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F6368"/>
                </a:solidFill>
                <a:latin typeface="Calibri"/>
                <a:ea typeface="微軟正黑體"/>
              </a:rPr>
              <a:t>id SERIAL, name TEXT,
grade INT, class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54864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6459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C4043"/>
                </a:solidFill>
                <a:latin typeface="Calibri"/>
                <a:ea typeface="微軟正黑體"/>
              </a:rPr>
              <a:t>新增 5 筆學生資料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F6368"/>
                </a:solidFill>
                <a:latin typeface="Calibri"/>
                <a:ea typeface="微軟正黑體"/>
              </a:rPr>
              <a:t>INSERT INTO 多筆插入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54864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C4043"/>
                </a:solidFill>
                <a:latin typeface="Calibri"/>
                <a:ea typeface="微軟正黑體"/>
              </a:rPr>
              <a:t>查詢 grade &gt; 80 的學生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F6368"/>
                </a:solidFill>
                <a:latin typeface="Calibri"/>
                <a:ea typeface="微軟正黑體"/>
              </a:rPr>
              <a:t>SELECT + WHERE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023360"/>
            <a:ext cx="54864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023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C4043"/>
                </a:solidFill>
                <a:latin typeface="Calibri"/>
                <a:ea typeface="微軟正黑體"/>
              </a:rPr>
              <a:t>改某位學生的班級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F6368"/>
                </a:solidFill>
                <a:latin typeface="Calibri"/>
                <a:ea typeface="微軟正黑體"/>
              </a:rPr>
              <a:t>UPDATE + 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023360"/>
            <a:ext cx="54864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023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C4043"/>
                </a:solidFill>
                <a:latin typeface="Calibri"/>
                <a:ea typeface="微軟正黑體"/>
              </a:rPr>
              <a:t>刪除一筆資料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F6368"/>
                </a:solidFill>
                <a:latin typeface="Calibri"/>
                <a:ea typeface="微軟正黑體"/>
              </a:rPr>
              <a:t>DELETE + WHERE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3C4043"/>
                </a:solidFill>
                <a:latin typeface="Calibri"/>
                <a:ea typeface="微軟正黑體"/>
              </a:rPr>
              <a:t>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資料庫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有組織的資料儲存系統，多人同時讀寫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PostgreSQL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開源、強大、企業級關聯式資料庫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pgAdmin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官方推薦的圖形化管理工具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CRUD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CREATE / READ / UPDATE / DELETE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JOIN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合併多張表，掌握 INNER / LEFT JOIN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4285F4"/>
                </a:solidFill>
                <a:latin typeface="Calibri"/>
                <a:ea typeface="微軟正黑體"/>
              </a:rPr>
              <a:t>Transaction    </a:t>
            </a:r>
            <a:r>
              <a:rPr sz="2000" b="0" i="0">
                <a:solidFill>
                  <a:srgbClr val="3C4043"/>
                </a:solidFill>
                <a:latin typeface="Calibri"/>
                <a:ea typeface="微軟正黑體"/>
              </a:rPr>
              <a:t>ACID 原則，確保資料一致性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1345</Words>
  <Application>Microsoft Office PowerPoint</Application>
  <PresentationFormat>寬螢幕</PresentationFormat>
  <Paragraphs>335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泓舉</cp:lastModifiedBy>
  <cp:revision>2</cp:revision>
  <dcterms:created xsi:type="dcterms:W3CDTF">2013-01-27T09:14:16Z</dcterms:created>
  <dcterms:modified xsi:type="dcterms:W3CDTF">2026-07-02T01:24:22Z</dcterms:modified>
  <cp:category/>
</cp:coreProperties>
</file>